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1216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drej-park-retreat4_11z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28800" y="1188720"/>
            <a:ext cx="85039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1463040"/>
            <a:ext cx="7589520" cy="10972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173736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B5E20"/>
                </a:solidFill>
                <a:latin typeface="Calibri"/>
              </a:defRPr>
            </a:pPr>
            <a:r>
              <a:rPr dirty="0"/>
              <a:t>GODREJ PARK RETREAT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51760"/>
            <a:ext cx="7589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CAF50"/>
                </a:solidFill>
                <a:latin typeface="Calibri"/>
              </a:defRPr>
            </a:pPr>
            <a:r>
              <a:rPr dirty="0"/>
              <a:t>•  A Green Community  •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200400"/>
            <a:ext cx="265176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34747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0">
                <a:solidFill>
                  <a:srgbClr val="5D4037"/>
                </a:solidFill>
                <a:latin typeface="Calibri"/>
              </a:defRPr>
            </a:pPr>
            <a:r>
              <a:t>First General Body Meeting (GBM)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206240"/>
            <a:ext cx="7589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  <a:latin typeface="Calibri"/>
              </a:defRPr>
            </a:pPr>
            <a:r>
              <a:rPr dirty="0"/>
              <a:t>Saturday, 21st March 2026  |  10:</a:t>
            </a:r>
            <a:r>
              <a:rPr lang="en-IN" dirty="0"/>
              <a:t>3</a:t>
            </a:r>
            <a:r>
              <a:rPr dirty="0"/>
              <a:t>0 AM – 12:</a:t>
            </a:r>
            <a:r>
              <a:rPr lang="en-IN" dirty="0"/>
              <a:t>3</a:t>
            </a:r>
            <a:r>
              <a:rPr dirty="0"/>
              <a:t>0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7548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Sarjapur Road, Bengaluru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5349240"/>
            <a:ext cx="7589520" cy="10972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5852160"/>
            <a:ext cx="85039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Residents Welfare Association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5486400" cy="1051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94360" y="1691640"/>
            <a:ext cx="640080" cy="6400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7099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00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RWA Member Introductions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Key job descriptions &amp; work division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5486400" cy="1051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4360" y="2880360"/>
            <a:ext cx="640080" cy="6400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89864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889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Tie-ups with Key Vendors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0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Key contributors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86200"/>
            <a:ext cx="5486400" cy="1051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4360" y="4069080"/>
            <a:ext cx="640080" cy="6400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0873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776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Financial Statement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From handover month (July 2025) onwards – Treasurer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74920"/>
            <a:ext cx="5486400" cy="1051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94360" y="5257800"/>
            <a:ext cx="640080" cy="6400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2760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1663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Welfare Achievements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577840"/>
            <a:ext cx="43891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rPr dirty="0"/>
              <a:t>Housekeeping, beautification, lift &amp; structure maintenance</a:t>
            </a:r>
            <a:br>
              <a:rPr dirty="0"/>
            </a:br>
            <a:r>
              <a:rPr dirty="0"/>
              <a:t>     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508760"/>
            <a:ext cx="5486400" cy="1051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55080" y="1691640"/>
            <a:ext cx="640080" cy="6400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17099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1600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Future Plans – Welfare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697480"/>
            <a:ext cx="5486400" cy="1051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355080" y="2880360"/>
            <a:ext cx="640080" cy="6400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289864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27889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Future Plans – Financial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200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rPr dirty="0"/>
              <a:t>Budget, approvals &amp; optimization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886200"/>
            <a:ext cx="5486400" cy="1051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55080" y="4069080"/>
            <a:ext cx="640080" cy="6400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40873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39776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Closing Remarks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5074920"/>
            <a:ext cx="5486400" cy="1051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355080" y="5257800"/>
            <a:ext cx="640080" cy="6400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55080" y="52760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51663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Open Forum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5577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Residents ask questions &amp; interact with RWA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a9f8e839286d6490192871da10b080b_55367_684532_medi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0" y="1371600"/>
            <a:ext cx="2103120" cy="210312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5E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RWA MEMBER INTRODUCTIONS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754880"/>
            <a:ext cx="301752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537"/>
                </a:solidFill>
                <a:latin typeface="Calibri"/>
              </a:defRPr>
            </a:pPr>
            <a:r>
              <a:t>Key Job Descriptions &amp; Work Division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RWA MEMBER INTRODUCTIONS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537"/>
                </a:solidFill>
                <a:latin typeface="Calibri"/>
              </a:defRPr>
            </a:pPr>
            <a:r>
              <a:rPr dirty="0"/>
              <a:t>Office Bearers – Key Job Descriptions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20040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1: RWA INTRODUCTIONS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20240"/>
            <a:ext cx="2743200" cy="4114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103120"/>
            <a:ext cx="2194560" cy="45720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PRESIDENT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Mr. Prasad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✓ Overall governance &amp; leadership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✓ Final decision authority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✓ External relations &amp; escalations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920240"/>
            <a:ext cx="2743200" cy="4114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566160" y="2103120"/>
            <a:ext cx="2194560" cy="45720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VICE PRESIDENT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74320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Mr. </a:t>
            </a:r>
            <a:r>
              <a:rPr dirty="0"/>
              <a:t>Harsha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✓ Supports President in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✓ MOU initiation &amp; vendor approvals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✓ Oversees day-to-day operations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920240"/>
            <a:ext cx="2743200" cy="4114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92240" y="2103120"/>
            <a:ext cx="2194560" cy="45720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SECRETARY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74320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Mr. </a:t>
            </a:r>
            <a:r>
              <a:rPr dirty="0"/>
              <a:t>Sambit Banerjee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✓ Meeting coordination &amp; minutes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✓ Official communications (SPOC)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✓ GBM planning &amp; execution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1920240"/>
            <a:ext cx="2743200" cy="4114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418320" y="2103120"/>
            <a:ext cx="2194560" cy="45720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1832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TREASURER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74320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Mr. </a:t>
            </a:r>
            <a:r>
              <a:rPr dirty="0" err="1"/>
              <a:t>Subhrajit</a:t>
            </a:r>
            <a:r>
              <a:rPr dirty="0"/>
              <a:t> Paul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✓ Financial management &amp; audits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✓ Contract &amp; agreement reviews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✓ Banking, budgets &amp;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TOWER REPRESENTATIVES &amp; SUPPORT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537"/>
                </a:solidFill>
                <a:latin typeface="Calibri"/>
              </a:defRPr>
            </a:pPr>
            <a:r>
              <a:rPr dirty="0"/>
              <a:t>Work Division &amp; Key Team Members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54480"/>
            <a:ext cx="2743200" cy="1005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" y="1737360"/>
            <a:ext cx="594360" cy="5943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627632"/>
            <a:ext cx="1874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rPr dirty="0"/>
              <a:t>Tower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rPr lang="en-IN" dirty="0"/>
              <a:t>Mr. </a:t>
            </a:r>
            <a:r>
              <a:rPr dirty="0"/>
              <a:t>Rajendra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554480"/>
            <a:ext cx="2743200" cy="1005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383280" y="1737360"/>
            <a:ext cx="594360" cy="5943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0" y="1737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Tower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011680"/>
            <a:ext cx="1828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rPr lang="en-IN" dirty="0"/>
              <a:t>Ms. </a:t>
            </a:r>
            <a:r>
              <a:rPr dirty="0"/>
              <a:t>Sayantoni Dutta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54480"/>
            <a:ext cx="2743200" cy="1005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09360" y="1737360"/>
            <a:ext cx="594360" cy="5943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1737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Tower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rPr lang="en-IN" dirty="0"/>
              <a:t>Mr. </a:t>
            </a:r>
            <a:r>
              <a:rPr dirty="0"/>
              <a:t>Prasenjit Saha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554480"/>
            <a:ext cx="2743200" cy="1005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235440" y="1737360"/>
            <a:ext cx="594360" cy="5943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35440" y="1737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Tower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rPr lang="en-IN" dirty="0"/>
              <a:t>Mr. </a:t>
            </a:r>
            <a:r>
              <a:rPr dirty="0"/>
              <a:t>Priyadarshi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743200"/>
            <a:ext cx="2743200" cy="1005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7200" y="2926080"/>
            <a:ext cx="594360" cy="5943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2926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Tower 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rPr lang="en-IN" dirty="0"/>
              <a:t>Mr. </a:t>
            </a:r>
            <a:r>
              <a:rPr dirty="0"/>
              <a:t>Anuj Pandey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0" y="2743200"/>
            <a:ext cx="2743200" cy="1005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383280" y="2926080"/>
            <a:ext cx="594360" cy="5943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83280" y="2926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Tower 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rPr lang="en-IN" dirty="0"/>
              <a:t>Mr. </a:t>
            </a:r>
            <a:r>
              <a:rPr dirty="0"/>
              <a:t>Ketan Patel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743200"/>
            <a:ext cx="2743200" cy="1005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309360" y="2926080"/>
            <a:ext cx="594360" cy="5943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0" y="2926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Tower 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rPr lang="en-IN" dirty="0"/>
              <a:t>Mr. </a:t>
            </a:r>
            <a:r>
              <a:rPr dirty="0"/>
              <a:t>Santosh Singh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2743200"/>
            <a:ext cx="2743200" cy="1005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235440" y="2926080"/>
            <a:ext cx="594360" cy="5943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35440" y="2926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Tower 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rPr lang="en-IN" dirty="0"/>
              <a:t>Mr. </a:t>
            </a:r>
            <a:r>
              <a:rPr dirty="0" err="1"/>
              <a:t>Ompal</a:t>
            </a:r>
            <a:r>
              <a:rPr dirty="0"/>
              <a:t> Singh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023360"/>
            <a:ext cx="114300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2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FACILITIES &amp; SUPPORT TEAM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663440"/>
            <a:ext cx="3566160" cy="109728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4360" y="4754880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rPr lang="en-IN" dirty="0"/>
              <a:t>Project Team</a:t>
            </a:r>
            <a:endParaRPr dirty="0"/>
          </a:p>
        </p:txBody>
      </p:sp>
      <p:sp>
        <p:nvSpPr>
          <p:cNvPr id="53" name="TextBox 52"/>
          <p:cNvSpPr txBox="1"/>
          <p:nvPr/>
        </p:nvSpPr>
        <p:spPr>
          <a:xfrm>
            <a:off x="594360" y="5120640"/>
            <a:ext cx="3291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rPr dirty="0"/>
              <a:t>Pawan &amp; Vamsi (Godrej </a:t>
            </a:r>
            <a:r>
              <a:rPr lang="en-IN" dirty="0"/>
              <a:t>Project</a:t>
            </a:r>
            <a:r>
              <a:rPr dirty="0"/>
              <a:t>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97680" y="4663440"/>
            <a:ext cx="3566160" cy="109728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434840" y="4754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Security Managers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4840" y="5120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rPr dirty="0"/>
              <a:t>2 Security Managers on-site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38160" y="4663440"/>
            <a:ext cx="3566160" cy="109728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75320" y="4754880"/>
            <a:ext cx="3291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5E20"/>
                </a:solidFill>
                <a:latin typeface="Calibri"/>
              </a:defRPr>
            </a:pPr>
            <a:r>
              <a:rPr dirty="0"/>
              <a:t>Operations</a:t>
            </a:r>
            <a:r>
              <a:rPr lang="en-IN" dirty="0"/>
              <a:t> &amp; Facilities Management</a:t>
            </a:r>
          </a:p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endParaRPr dirty="0"/>
          </a:p>
        </p:txBody>
      </p:sp>
      <p:sp>
        <p:nvSpPr>
          <p:cNvPr id="59" name="TextBox 58"/>
          <p:cNvSpPr txBox="1"/>
          <p:nvPr/>
        </p:nvSpPr>
        <p:spPr>
          <a:xfrm>
            <a:off x="8275320" y="5120640"/>
            <a:ext cx="32918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rPr dirty="0"/>
              <a:t>Jayaprakash </a:t>
            </a:r>
            <a:r>
              <a:rPr lang="en-IN" dirty="0"/>
              <a:t>&amp; Team</a:t>
            </a:r>
            <a:r>
              <a:rPr dirty="0"/>
              <a:t> (Godrej Living)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a9f8e839286d6490192871da10b080b_55367_684532_medi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0" y="1371600"/>
            <a:ext cx="2103120" cy="210312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5E2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TIE-UPS WITH KEY VENDORS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754880"/>
            <a:ext cx="301752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537"/>
                </a:solidFill>
                <a:latin typeface="Calibri"/>
              </a:defRPr>
            </a:pPr>
            <a:r>
              <a:t>Key Contributors &amp; Strategic Partnerships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TIE-UPS WITH KEY VENDORS –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537"/>
                </a:solidFill>
                <a:latin typeface="Calibri"/>
              </a:defRPr>
            </a:pPr>
            <a:r>
              <a:rPr dirty="0"/>
              <a:t>Key Contributors &amp; Partnerships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  <p:pic>
        <p:nvPicPr>
          <p:cNvPr id="11" name="Picture 10" descr="partnersh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463040"/>
            <a:ext cx="3200400" cy="2286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1920240"/>
            <a:ext cx="256032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dirty="0"/>
              <a:t>Sparsh Hospital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77440"/>
            <a:ext cx="1828800" cy="3200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MOU Signed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1920240"/>
            <a:ext cx="256032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dirty="0"/>
              <a:t>Brother Chemist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2377440"/>
            <a:ext cx="1828800" cy="3200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Approved &amp; MOU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920240"/>
            <a:ext cx="256032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dirty="0"/>
              <a:t>Apollo Clinic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237744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Inquiry Initiated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017520"/>
            <a:ext cx="256032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063240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dirty="0"/>
              <a:t>My</a:t>
            </a:r>
            <a:r>
              <a:rPr lang="en-IN" dirty="0"/>
              <a:t> </a:t>
            </a:r>
            <a:r>
              <a:rPr dirty="0"/>
              <a:t>Gate</a:t>
            </a:r>
            <a:r>
              <a:rPr lang="en-IN" dirty="0"/>
              <a:t> Park+ ANPR</a:t>
            </a:r>
          </a:p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457200" y="3474720"/>
            <a:ext cx="1828800" cy="3200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Onboarding Started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0" y="3017520"/>
            <a:ext cx="256032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0" y="3063240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lang="en-IN" dirty="0"/>
              <a:t>Airtel Network Boster</a:t>
            </a: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3200400" y="3474720"/>
            <a:ext cx="1828800" cy="3200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0" y="3474720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Under Evaluation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0" y="3017520"/>
            <a:ext cx="256032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3063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Tilt.bike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34747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15% Revenue Share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114800"/>
            <a:ext cx="256032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160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AdOnMo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57200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572000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Approved &amp; MOU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8960" y="4114800"/>
            <a:ext cx="256032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0" y="4160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HDFC Bank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0" y="4572000"/>
            <a:ext cx="1828800" cy="3200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Account Approved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52160" y="4114800"/>
            <a:ext cx="256032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0" y="4160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dirty="0"/>
              <a:t>Laundry Vendors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4572000"/>
            <a:ext cx="1828800" cy="320040"/>
          </a:xfrm>
          <a:prstGeom prst="round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Under Evaluation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" y="5212079"/>
            <a:ext cx="256032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52577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Vegetable Vendors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669279"/>
            <a:ext cx="1828800" cy="320040"/>
          </a:xfrm>
          <a:prstGeom prst="round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56692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Under Evaluation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108960" y="5212079"/>
            <a:ext cx="256032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00400" y="52577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Airtel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00400" y="5669279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00400" y="56692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In Progress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n_lea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D470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SPARSH</a:t>
            </a:r>
            <a:br/>
            <a:r>
              <a:t>HOSPITAL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182880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Calibri"/>
              </a:defRPr>
            </a:pPr>
            <a:r>
              <a:t>PARTNER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0"/>
            <a:ext cx="109728" cy="6858000"/>
          </a:xfrm>
          <a:prstGeom prst="rect">
            <a:avLst/>
          </a:prstGeom>
          <a:solidFill>
            <a:srgbClr val="006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RWA COORDINATORS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594360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685800"/>
            <a:ext cx="5303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r>
              <a:rPr dirty="0"/>
              <a:t>•  Prasenjit Saha (Led negotiation &amp; sign-off)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115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rPr dirty="0"/>
              <a:t>EXTERNAL PARTNER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389888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D4037"/>
                </a:solidFill>
                <a:latin typeface="Calibri"/>
              </a:defRPr>
            </a:pPr>
            <a:r>
              <a:t>•  Sparsh Hospital, Bengaluru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961120" y="274320"/>
            <a:ext cx="3017520" cy="2560320"/>
          </a:xfrm>
          <a:prstGeom prst="roundRect">
            <a:avLst/>
          </a:prstGeom>
          <a:solidFill>
            <a:srgbClr val="006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0" y="45720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par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548640"/>
            <a:ext cx="237744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6112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SPARSH HOSPITAL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286000"/>
            <a:ext cx="210312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PARTNERSHIP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200400"/>
            <a:ext cx="86868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0896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Calibri"/>
              </a:defRPr>
            </a:pPr>
            <a:r>
              <a:t>★  KEY HIGHLIGHT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8404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/>
              </a:defRPr>
            </a:pPr>
            <a:r>
              <a:t>MOU Signed – 2 Medical Kits + 1 Wheelchair provided to the society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937760"/>
            <a:ext cx="868680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✓  All benefits documented in signed MOU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✓  Healthcare access for </a:t>
            </a:r>
            <a:r>
              <a:rPr lang="en-IN" dirty="0"/>
              <a:t>all GPR</a:t>
            </a:r>
            <a:r>
              <a:rPr dirty="0"/>
              <a:t> families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✓  MOU shared with all board members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n_lea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D470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BROTHER</a:t>
            </a:r>
            <a:br/>
            <a:r>
              <a:t>CHEMIST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182880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Calibri"/>
              </a:defRPr>
            </a:pPr>
            <a:r>
              <a:t>PARTNER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0"/>
            <a:ext cx="109728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RWA COORDINATORS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594360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685800"/>
            <a:ext cx="53035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Subhrajit</a:t>
            </a:r>
            <a:r>
              <a:rPr dirty="0"/>
              <a:t> Paul – Treasurer (Contract review)</a:t>
            </a:r>
          </a:p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r>
              <a:rPr dirty="0"/>
              <a:t>•  Harsha – VP (MOU initiation)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546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rPr lang="en-IN" dirty="0"/>
              <a:t>  </a:t>
            </a:r>
            <a:r>
              <a:rPr dirty="0"/>
              <a:t>EXTERNAL PARTNER</a:t>
            </a:r>
            <a:r>
              <a:rPr lang="en-IN" dirty="0"/>
              <a:t>                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3108960" y="2377440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2450592"/>
            <a:ext cx="5303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D4037"/>
                </a:solidFill>
                <a:latin typeface="Calibri"/>
              </a:defRPr>
            </a:pPr>
            <a:r>
              <a:rPr dirty="0"/>
              <a:t>•  Brother Chemist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74320"/>
            <a:ext cx="3017520" cy="256032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7315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BROTHER</a:t>
            </a:r>
            <a:br>
              <a:rPr dirty="0"/>
            </a:br>
            <a:r>
              <a:rPr dirty="0"/>
              <a:t>CHEMIST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2286000"/>
            <a:ext cx="210312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PARTNERSHIP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3200400"/>
            <a:ext cx="86868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0896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Calibri"/>
              </a:defRPr>
            </a:pPr>
            <a:r>
              <a:t>★  KEY HIGHLIGHT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840480"/>
            <a:ext cx="8686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/>
              </a:defRPr>
            </a:pPr>
            <a:r>
              <a:rPr dirty="0"/>
              <a:t>Approved &amp; MOU Signed – </a:t>
            </a:r>
            <a:r>
              <a:rPr lang="en-IN" dirty="0"/>
              <a:t>38K Rent &amp; </a:t>
            </a:r>
            <a:r>
              <a:rPr dirty="0"/>
              <a:t>Min 1</a:t>
            </a:r>
            <a:r>
              <a:rPr lang="en-IN" dirty="0"/>
              <a:t>0</a:t>
            </a:r>
            <a:r>
              <a:rPr dirty="0"/>
              <a:t>% discount on branded medicines for all residents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937760"/>
            <a:ext cx="868680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✓  1</a:t>
            </a:r>
            <a:r>
              <a:rPr lang="en-IN" dirty="0"/>
              <a:t>0</a:t>
            </a:r>
            <a:r>
              <a:rPr dirty="0"/>
              <a:t>%</a:t>
            </a:r>
            <a:r>
              <a:rPr lang="en-IN" dirty="0"/>
              <a:t> discount</a:t>
            </a:r>
            <a:r>
              <a:rPr dirty="0"/>
              <a:t> on branded</a:t>
            </a:r>
            <a:r>
              <a:rPr lang="en-IN" dirty="0"/>
              <a:t>/</a:t>
            </a:r>
            <a:r>
              <a:rPr dirty="0"/>
              <a:t>generics</a:t>
            </a:r>
            <a:r>
              <a:rPr lang="en-IN" dirty="0"/>
              <a:t> Medicine</a:t>
            </a:r>
            <a:endParaRPr dirty="0"/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✓  No minimum transaction – discounts on bills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✓  Vendor to get Pharmacy &amp; Drug License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n_lea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D470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APOLLO</a:t>
            </a:r>
            <a:br>
              <a:rPr dirty="0"/>
            </a:br>
            <a:r>
              <a:rPr dirty="0"/>
              <a:t>CLINIC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182880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Calibri"/>
              </a:defRPr>
            </a:pPr>
            <a:r>
              <a:t>PARTNER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0"/>
            <a:ext cx="109728" cy="6858000"/>
          </a:xfrm>
          <a:prstGeom prst="rect">
            <a:avLst/>
          </a:prstGeom>
          <a:solidFill>
            <a:srgbClr val="004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RWA COORDINATORS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594360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685800"/>
            <a:ext cx="5303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r>
              <a:rPr dirty="0"/>
              <a:t>•  Ketan Patel – (Initiated inquiry)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115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EXTERNAL PARTNER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389888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D4037"/>
                </a:solidFill>
                <a:latin typeface="Calibri"/>
              </a:defRPr>
            </a:pPr>
            <a:r>
              <a:t>•  Apollo Clinic Team, Bengaluru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74320"/>
            <a:ext cx="3017520" cy="2560320"/>
          </a:xfrm>
          <a:prstGeom prst="roundRect">
            <a:avLst/>
          </a:prstGeom>
          <a:solidFill>
            <a:srgbClr val="004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APOLLO</a:t>
            </a:r>
            <a:b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CLINIC</a:t>
            </a:r>
          </a:p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96112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APOLLO CLINIC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286000"/>
            <a:ext cx="210312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PARTNERSHIP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200400"/>
            <a:ext cx="86868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0896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Calibri"/>
              </a:defRPr>
            </a:pPr>
            <a:r>
              <a:t>★  KEY HIGHLIGHT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8404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/>
              </a:defRPr>
            </a:pPr>
            <a:r>
              <a:t>Inquiry initiated for setting up an in-premise clinic inside GPR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93776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t>✓  Primary healthcare, check-ups &amp; diagnostics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t>✓  Emergency medical assistance + pharmacy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t>✓  Exploring gated community clinic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n_lea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D470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MyGate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182880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Calibri"/>
              </a:defRPr>
            </a:pPr>
            <a:r>
              <a:t>PARTNER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0"/>
            <a:ext cx="109728" cy="6858000"/>
          </a:xfrm>
          <a:prstGeom prst="rect">
            <a:avLst/>
          </a:prstGeom>
          <a:solidFill>
            <a:srgbClr val="4A1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RWA COORDINATORS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594360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685800"/>
            <a:ext cx="53035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r>
              <a:rPr dirty="0"/>
              <a:t>•  Sambit Banerjee – Secretary (SPOC &amp; lead)</a:t>
            </a:r>
          </a:p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r>
              <a:rPr dirty="0"/>
              <a:t>•  Anuj Pandey </a:t>
            </a:r>
            <a:r>
              <a:rPr lang="en-IN" dirty="0"/>
              <a:t>&amp; Raj (Initiated inquiry)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108960" y="13624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EXTERNAL PARTNER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636776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709928"/>
            <a:ext cx="5303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D4037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MyGate</a:t>
            </a:r>
            <a:r>
              <a:rPr dirty="0"/>
              <a:t>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74320"/>
            <a:ext cx="3017520" cy="2560320"/>
          </a:xfrm>
          <a:prstGeom prst="roundRect">
            <a:avLst/>
          </a:prstGeom>
          <a:solidFill>
            <a:srgbClr val="4A1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0" y="45720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yGa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548640"/>
            <a:ext cx="237744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6112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MyGate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286000"/>
            <a:ext cx="210312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PARTNERSHIP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200400"/>
            <a:ext cx="86868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0896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Calibri"/>
              </a:defRPr>
            </a:pPr>
            <a:r>
              <a:t>★  KEY HIGHLIGHT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840480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/>
              </a:defRPr>
            </a:pPr>
            <a:r>
              <a:rPr dirty="0"/>
              <a:t>Onboarding initiated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572000"/>
            <a:ext cx="859536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✓  Society management: visitors, deliveries, communication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✓  All communications via official email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✓  Sign-off after GPL legal clearance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n_lea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D470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PARK+</a:t>
            </a:r>
            <a:br/>
            <a:r>
              <a:t>ANPR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182880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Calibri"/>
              </a:defRPr>
            </a:pPr>
            <a:r>
              <a:t>PARTNER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0"/>
            <a:ext cx="109728" cy="685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RWA COORDINATORS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594360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685800"/>
            <a:ext cx="5303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r>
              <a:rPr dirty="0"/>
              <a:t>•  </a:t>
            </a:r>
            <a:r>
              <a:rPr lang="en-IN" dirty="0"/>
              <a:t>Raj</a:t>
            </a:r>
            <a:r>
              <a:rPr dirty="0"/>
              <a:t>– (Implementation)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115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EXTERNAL PARTNER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389888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D4037"/>
                </a:solidFill>
                <a:latin typeface="Calibri"/>
              </a:defRPr>
            </a:pPr>
            <a:r>
              <a:t>•  Park+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74320"/>
            <a:ext cx="3017520" cy="256032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7315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PARK+</a:t>
            </a:r>
            <a:br/>
            <a:r>
              <a:t>ANPR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2286000"/>
            <a:ext cx="210312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PARTNERSHIP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3200400"/>
            <a:ext cx="86868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0896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Calibri"/>
              </a:defRPr>
            </a:pPr>
            <a:r>
              <a:t>★  KEY HIGHLIGHT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8404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/>
              </a:defRPr>
            </a:pPr>
            <a:r>
              <a:t>Automatic Number Plate Recognition boom barrier installed at main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93776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t>✓  Auto boom barrier for registered vehicles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t>✓  Register vehicles in MyGate app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t>✓  Enhanced security with vehicle tracking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n_lea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D470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TILT.BIKE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182880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Calibri"/>
              </a:defRPr>
            </a:pPr>
            <a:r>
              <a:t>PARTNER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RWA COORDINATORS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594360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685800"/>
            <a:ext cx="53035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r>
              <a:rPr dirty="0"/>
              <a:t>•  Ketan Patel</a:t>
            </a:r>
            <a:r>
              <a:rPr lang="en-IN" dirty="0"/>
              <a:t> &amp; Sayantoni </a:t>
            </a:r>
            <a:r>
              <a:rPr dirty="0"/>
              <a:t>– (</a:t>
            </a:r>
            <a:r>
              <a:rPr lang="en-IN" dirty="0"/>
              <a:t>SPOC &amp; lead with </a:t>
            </a:r>
            <a:r>
              <a:rPr dirty="0"/>
              <a:t>Negotiation)</a:t>
            </a:r>
          </a:p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r>
              <a:rPr lang="en-IN" dirty="0"/>
              <a:t>•  NT Prasad– President (Contract review &amp; Signed)</a:t>
            </a:r>
          </a:p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108960" y="1702230"/>
            <a:ext cx="57017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rPr dirty="0"/>
              <a:t>EXTERNAL PARTNER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7192" y="1993392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 rot="10800000" flipV="1">
            <a:off x="3108960" y="2022387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D4037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Tilt.bike</a:t>
            </a:r>
            <a:r>
              <a:rPr dirty="0"/>
              <a:t>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74320"/>
            <a:ext cx="3017520" cy="25603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0" y="45720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til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548640"/>
            <a:ext cx="237744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6112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TILT.BIKE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286000"/>
            <a:ext cx="210312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PARTNERSHIP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200400"/>
            <a:ext cx="86868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0896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Calibri"/>
              </a:defRPr>
            </a:pPr>
            <a:r>
              <a:t>★  KEY HIGHLIGHT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840480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/>
              </a:defRPr>
            </a:pPr>
            <a:r>
              <a:rPr dirty="0"/>
              <a:t>15% revenue</a:t>
            </a:r>
            <a:r>
              <a:rPr lang="en-IN" dirty="0"/>
              <a:t> share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3116852" y="4761417"/>
            <a:ext cx="838372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✓  Zero cost/liability to society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✓  Brand sponsorships routed to RWA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✓  Cycling events with sponsor kiosks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n_lea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D470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AdOnMo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182880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Calibri"/>
              </a:defRPr>
            </a:pPr>
            <a:r>
              <a:t>PARTNER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0"/>
            <a:ext cx="109728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RWA COORDINATORS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594360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685800"/>
            <a:ext cx="53035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r>
              <a:rPr dirty="0"/>
              <a:t>•  Ketan Patel – (</a:t>
            </a:r>
            <a:r>
              <a:rPr lang="en-IN" dirty="0"/>
              <a:t>SPOC &amp; lead</a:t>
            </a:r>
            <a:r>
              <a:rPr dirty="0"/>
              <a:t>)</a:t>
            </a:r>
          </a:p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Subhrajit</a:t>
            </a:r>
            <a:r>
              <a:rPr dirty="0"/>
              <a:t> Paul – Treasurer (</a:t>
            </a:r>
            <a:r>
              <a:rPr lang="en-IN" dirty="0"/>
              <a:t>Contract review</a:t>
            </a:r>
            <a:r>
              <a:rPr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3624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EXTERNAL PARTNER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636776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70992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D4037"/>
                </a:solidFill>
                <a:latin typeface="Calibri"/>
              </a:defRPr>
            </a:pPr>
            <a:r>
              <a:t>•  Murali Manohar Routhu – AdOnMo, Bengaluru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74320"/>
            <a:ext cx="3017520" cy="25603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0" y="45720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Adon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548640"/>
            <a:ext cx="237744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6112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AdOnMo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286000"/>
            <a:ext cx="210312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PARTNERSHIP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200400"/>
            <a:ext cx="86868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0896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Calibri"/>
              </a:defRPr>
            </a:pPr>
            <a:r>
              <a:t>★  KEY HIGHLIGHT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8404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/>
              </a:defRPr>
            </a:pPr>
            <a:r>
              <a:t>Intelligent Digital Notice Board System – 5-year agreement under final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937760"/>
            <a:ext cx="868680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✓  Fixed consideration 3 years, mutual increment after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✓  BESCOM changes covered by </a:t>
            </a:r>
            <a:r>
              <a:rPr dirty="0" err="1"/>
              <a:t>AdOnMo</a:t>
            </a:r>
            <a:endParaRPr dirty="0"/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n_lea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D470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HDFC</a:t>
            </a:r>
            <a:br/>
            <a:r>
              <a:t>BANK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182880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Calibri"/>
              </a:defRPr>
            </a:pPr>
            <a:r>
              <a:t>PARTNER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0"/>
            <a:ext cx="109728" cy="68580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RWA COORDINATORS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594360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685800"/>
            <a:ext cx="53035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Subhrajit</a:t>
            </a:r>
            <a:r>
              <a:rPr dirty="0"/>
              <a:t> Paul – Treasurer (Led proposal)</a:t>
            </a:r>
            <a:endParaRPr lang="en-IN" dirty="0"/>
          </a:p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r>
              <a:rPr lang="en-IN" dirty="0"/>
              <a:t>•  RWA Team—Review &amp; Approve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10896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EXTERNAL PARTNER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130552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220370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D4037"/>
                </a:solidFill>
                <a:latin typeface="Calibri"/>
              </a:defRPr>
            </a:pPr>
            <a:r>
              <a:t>•  HDFC Bank – Banking Partner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74320"/>
            <a:ext cx="3017520" cy="2560320"/>
          </a:xfrm>
          <a:prstGeom prst="round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0" y="45720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HD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548640"/>
            <a:ext cx="237744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6112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HDFC BANK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286000"/>
            <a:ext cx="210312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PARTNERSHIP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200400"/>
            <a:ext cx="86868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0896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Calibri"/>
              </a:defRPr>
            </a:pPr>
            <a:r>
              <a:t>★  KEY HIGHLIGHT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8404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/>
              </a:defRPr>
            </a:pPr>
            <a:r>
              <a:t>RWA Bank Account approved – Tally plugin, payment gateway &amp; auto reconciliation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93776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t>✓  Tally plug-in with auto reconciliation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t>✓  Online fund transfer, FD, utility payments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t>✓  EazyPay for online &amp; offline collections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n_lea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D470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3716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LAUNDRY &amp;</a:t>
            </a:r>
            <a:br/>
            <a:r>
              <a:t>VEGETABLE</a:t>
            </a:r>
            <a:br/>
            <a:r>
              <a:t>VENDORS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74720"/>
            <a:ext cx="182880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0"/>
            <a:ext cx="109728" cy="685800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274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LAUNDRY VENDOR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640080"/>
            <a:ext cx="137160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777240"/>
            <a:ext cx="41148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★  Complete financial &amp; operational analysis done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Rent proposal: ₹4,000 → ₹12,000 analyzed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Family-wise usage &amp; margin analysis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Multiple vendor meetings conducted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rPr dirty="0"/>
              <a:t>Coordinated by: </a:t>
            </a:r>
            <a:r>
              <a:rPr lang="en-IN" dirty="0" err="1"/>
              <a:t>Subhrajit</a:t>
            </a:r>
            <a:r>
              <a:rPr lang="en-IN" dirty="0"/>
              <a:t> Paul – Treasurer 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10896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VEGETABLE VENDOR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3566160"/>
            <a:ext cx="137160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3703320"/>
            <a:ext cx="411480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★  Organic </a:t>
            </a:r>
            <a:r>
              <a:rPr dirty="0" err="1"/>
              <a:t>Mandya</a:t>
            </a:r>
            <a:r>
              <a:rPr dirty="0"/>
              <a:t> &amp; Retro Cart</a:t>
            </a:r>
            <a:r>
              <a:rPr lang="en-IN" dirty="0"/>
              <a:t> and SLV</a:t>
            </a:r>
            <a:r>
              <a:rPr dirty="0"/>
              <a:t> evaluated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₹10K/month + ₹15K one-time sponsorship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Organic &amp; regular vegetables offered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Decision based on quality &amp; resident satisfaction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rPr dirty="0"/>
              <a:t>Coordinated by: Prasenjit Saha, Ketan Patel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rPr dirty="0"/>
              <a:t>External: Organic </a:t>
            </a:r>
            <a:r>
              <a:rPr dirty="0" err="1"/>
              <a:t>Mandya</a:t>
            </a:r>
            <a:r>
              <a:rPr dirty="0"/>
              <a:t> , Retro Cart</a:t>
            </a:r>
            <a:r>
              <a:rPr lang="en-IN" dirty="0"/>
              <a:t>, SLV.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772400" y="274320"/>
            <a:ext cx="4114800" cy="2560320"/>
          </a:xfrm>
          <a:prstGeom prst="round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12480" y="457200"/>
            <a:ext cx="2743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Laund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920"/>
            <a:ext cx="246888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0" y="20116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LAUNDRY VENDOR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200400"/>
            <a:ext cx="4114800" cy="2560320"/>
          </a:xfrm>
          <a:prstGeom prst="round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12480" y="3383280"/>
            <a:ext cx="2743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Vegitab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3429000"/>
            <a:ext cx="2468880" cy="1371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49377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VEGETABLE VENDOR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n_lea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D470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23774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Telecom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182880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Calibri"/>
              </a:defRPr>
            </a:pPr>
            <a:r>
              <a:t>PARTNER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0"/>
            <a:ext cx="109728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RWA COORDINATORS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594360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685800"/>
            <a:ext cx="53035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r>
              <a:rPr dirty="0"/>
              <a:t>•  Ketan Patel</a:t>
            </a:r>
            <a:r>
              <a:rPr lang="en-IN" dirty="0"/>
              <a:t> &amp; Sayantoni</a:t>
            </a:r>
            <a:r>
              <a:rPr dirty="0"/>
              <a:t> – (Coordination)</a:t>
            </a:r>
          </a:p>
          <a:p>
            <a:pPr>
              <a:spcAft>
                <a:spcPts val="300"/>
              </a:spcAft>
              <a:defRPr sz="1500" b="1">
                <a:solidFill>
                  <a:srgbClr val="0D470E"/>
                </a:solidFill>
                <a:latin typeface="Calibri"/>
              </a:defRPr>
            </a:pPr>
            <a:r>
              <a:rPr dirty="0"/>
              <a:t>•  </a:t>
            </a:r>
            <a:r>
              <a:rPr lang="en-IN" dirty="0"/>
              <a:t>Harsha</a:t>
            </a:r>
            <a:r>
              <a:rPr dirty="0"/>
              <a:t>– (</a:t>
            </a:r>
            <a:r>
              <a:rPr lang="en-IN" dirty="0"/>
              <a:t>Intercom</a:t>
            </a:r>
            <a:r>
              <a:rPr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3624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EXTERNAL PARTNER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636776"/>
            <a:ext cx="16459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70992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D4037"/>
                </a:solidFill>
                <a:latin typeface="Calibri"/>
              </a:defRPr>
            </a:pPr>
            <a:r>
              <a:t>•  Siddanagouda B – Airtel</a:t>
            </a:r>
          </a:p>
          <a:p>
            <a:pPr>
              <a:spcAft>
                <a:spcPts val="300"/>
              </a:spcAft>
              <a:defRPr sz="1500" b="0">
                <a:solidFill>
                  <a:srgbClr val="5D4037"/>
                </a:solidFill>
                <a:latin typeface="Calibri"/>
              </a:defRPr>
            </a:pPr>
            <a:r>
              <a:t>•  Sathish J – Tata Play Fiber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74320"/>
            <a:ext cx="3017520" cy="2560320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731520"/>
            <a:ext cx="30175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2000" dirty="0"/>
              <a:t>AIRTEL</a:t>
            </a:r>
            <a:endParaRPr lang="en-IN" sz="2000" dirty="0"/>
          </a:p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n-IN" sz="2000" dirty="0"/>
              <a:t>TATA</a:t>
            </a:r>
          </a:p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n-IN" sz="2000" dirty="0"/>
              <a:t>ACT</a:t>
            </a:r>
            <a:endParaRPr sz="2000" dirty="0"/>
          </a:p>
        </p:txBody>
      </p:sp>
      <p:sp>
        <p:nvSpPr>
          <p:cNvPr id="16" name="Rounded Rectangle 15"/>
          <p:cNvSpPr/>
          <p:nvPr/>
        </p:nvSpPr>
        <p:spPr>
          <a:xfrm>
            <a:off x="9418320" y="2286000"/>
            <a:ext cx="2103120" cy="36576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rPr dirty="0"/>
              <a:t>PARTNERSHIP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3200400"/>
            <a:ext cx="86868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0896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Calibri"/>
              </a:defRPr>
            </a:pPr>
            <a:r>
              <a:t>★  KEY HIGHLIGHT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8404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/>
              </a:defRPr>
            </a:pPr>
            <a:r>
              <a:rPr dirty="0"/>
              <a:t>Signage finalized + Booster Tower survey done + Intercom in lifts planned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93776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t>✓  Booster tower survey completed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t>✓  Cones, mirrors, barricades tracked</a:t>
            </a:r>
          </a:p>
          <a:p>
            <a:pPr>
              <a:spcAft>
                <a:spcPts val="50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t>✓  Free Wi-Fi point at podium requested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a9f8e839286d6490192871da10b080b_55367_684532_medi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0" y="1371600"/>
            <a:ext cx="2103120" cy="210312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5E2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FINANCIAL 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754880"/>
            <a:ext cx="301752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537"/>
                </a:solidFill>
                <a:latin typeface="Calibri"/>
              </a:defRPr>
            </a:pPr>
            <a:r>
              <a:t>From Handover Month (July 2025) Onwards – Treasurer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FINANCIAL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537"/>
                </a:solidFill>
                <a:latin typeface="Calibri"/>
              </a:defRPr>
            </a:pPr>
            <a:r>
              <a:rPr dirty="0"/>
              <a:t>CAM Reconciliation – Presented by Treasurer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20040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FINANCIALS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  <p:pic>
        <p:nvPicPr>
          <p:cNvPr id="11" name="Picture 10" descr="fin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417320"/>
            <a:ext cx="2926080" cy="8229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86800" y="1417320"/>
            <a:ext cx="320040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Presented by: Subhrajit Paul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0116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Registered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Balance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No. of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Area (Sqft)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9,73,372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8,83,937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89,435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Sinking Fund (excl. GST)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 3,50,41,392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 3,18,21,732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 32,19,660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Maintenance (excl. GST)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 3,50,41,392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 3,18,21,732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 32,19,660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CAM Collected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 7,00,82,784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 6,36,43,464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 64,39,320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Less: Expenses till Jan 2026</a:t>
                      </a:r>
                    </a:p>
                  </a:txBody>
                  <a:tcPr>
                    <a:solidFill>
                      <a:srgbClr val="F5E6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5E6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₹ 1,02,87,819</a:t>
                      </a:r>
                    </a:p>
                  </a:txBody>
                  <a:tcPr>
                    <a:solidFill>
                      <a:srgbClr val="F5E6C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5E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 TRANSFERABLE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₹ 5,33,55,645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External: Vamsi Krishna P &amp; Pavan Kumar MS (Godrej Properties)  |  Water tankers: 293 loads (Dec 2025), 130 paid, 163 pending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FINANCIAL MANAGEMENT – PENDING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537"/>
                </a:solidFill>
                <a:latin typeface="Calibri"/>
              </a:defRPr>
            </a:pPr>
            <a:r>
              <a:t>Agenda Point 3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789920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BESCOM NOC Delay: Impacting electricity charges – follow-up in progress</a:t>
            </a:r>
          </a:p>
          <a:p>
            <a:pPr>
              <a:spcAft>
                <a:spcPts val="10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Finance &amp; Sponsorship Guidelines with clear approval thresholds being formalized</a:t>
            </a:r>
          </a:p>
          <a:p>
            <a:pPr>
              <a:spcAft>
                <a:spcPts val="10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Expense Breakdown requested from Godrej Living</a:t>
            </a:r>
          </a:p>
          <a:p>
            <a:pPr>
              <a:spcAft>
                <a:spcPts val="10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Detailed audit completed for Sankranti &amp; Saraswati Puja expenses</a:t>
            </a:r>
          </a:p>
          <a:p>
            <a:pPr>
              <a:spcAft>
                <a:spcPts val="10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Sub-committee guidelines approved – all sponsorship via official RWA sub-account</a:t>
            </a:r>
          </a:p>
          <a:p>
            <a:pPr>
              <a:spcAft>
                <a:spcPts val="10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No individual collection in personal accounts – strict transparency policy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a9f8e839286d6490192871da10b080b_55367_684532_medi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0" y="1371600"/>
            <a:ext cx="2103120" cy="210312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5E2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WELFARE ACHIEVEMENTS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754880"/>
            <a:ext cx="301752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537"/>
                </a:solidFill>
                <a:latin typeface="Calibri"/>
              </a:defRPr>
            </a:pPr>
            <a:r>
              <a:t>Housekeeping, Beautification, Maintenance &amp; Resident Welfare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WELFARE: HOUSEKEEPING &amp; BEAUTIFICATION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537"/>
                </a:solidFill>
                <a:latin typeface="Calibri"/>
              </a:defRPr>
            </a:pPr>
            <a:r>
              <a:t>Agenda Point 4: Processes &amp; Key Contributors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20040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4: WELFARE ACHIEVEMENTS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✓  OWC (Organic Waste Converter) machine installed &amp; ready</a:t>
            </a:r>
          </a:p>
          <a:p>
            <a:pPr>
              <a:spcAft>
                <a:spcPts val="7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      Proposal: 2 trained operators for door-to-door wet waste collection &amp; composting</a:t>
            </a:r>
          </a:p>
          <a:p>
            <a:pPr>
              <a:spcAft>
                <a:spcPts val="7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✓  Summer Gardening Green Plan: Daily watering, pest control, heat-resistant plants</a:t>
            </a:r>
          </a:p>
          <a:p>
            <a:pPr>
              <a:spcAft>
                <a:spcPts val="7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✓  Cleanliness &amp; Penalty Policy: Items in corner parking removed after 1st March</a:t>
            </a:r>
          </a:p>
          <a:p>
            <a:pPr>
              <a:spcAft>
                <a:spcPts val="7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✓  Deep cleaning of tower floors – cable shortage being resolved by GPL</a:t>
            </a:r>
          </a:p>
          <a:p>
            <a:pPr>
              <a:spcAft>
                <a:spcPts val="7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✓  BBMP compliance for in-house wet-waste processing</a:t>
            </a:r>
          </a:p>
          <a:p>
            <a:pPr>
              <a:spcAft>
                <a:spcPts val="7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✓  Compost production for society landscaping</a:t>
            </a:r>
          </a:p>
          <a:p>
            <a:pPr>
              <a:spcAft>
                <a:spcPts val="7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7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Key Contributors: Ketan Patel, Jayaprakash AP (Godrej Living)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WELFARE: LIFT, STRUCTURE &amp;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537"/>
                </a:solidFill>
                <a:latin typeface="Calibri"/>
              </a:defRPr>
            </a:pPr>
            <a:r>
              <a:t>Agenda Point 4: Maintenance Achievements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  <p:pic>
        <p:nvPicPr>
          <p:cNvPr id="9" name="Picture 8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463040"/>
            <a:ext cx="320040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155448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✓  Tower A: Lift issues – immediate action taken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✓  Tower F: Gate rainwater seepage – permanent fix demanded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✓  Main Doors: Alignment &amp; color uniformity across all towers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✓  Balcony Glass: 4-month pending replacement – escalated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✓  Speed Breakers: GPL agreed near Tower E ramp (kids’ safety)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✓  AQI Monitoring: Proposal for Podium/Clubhouse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✓  Intercom in Lifts: Airtel vendor to provide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✓  Faulty Lights: Under warranty replacement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✓  Ladders: Cost verification in progress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Key Contributors: Ketan Patel, Rajendra (A Tower), Jayaprakash AP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WELFARE: RESIDENT INITIATIVES &amp;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537"/>
                </a:solidFill>
                <a:latin typeface="Calibri"/>
              </a:defRPr>
            </a:pPr>
            <a:r>
              <a:t>Agenda Point 4: Security, Water, Festivals, Sports &amp; Community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SECURITY &amp; ACCESS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Cost review: ₹24-25K vs ₹16K nearby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Potential saving: ₹19.2L/year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Park+ ANPR boom barrier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Vehicle registration via MyGate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Community fine system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WATER MANAGEMENT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Water Quality Task Force formed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Borewells: 1 (Ph1) + 2 (Ph2)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Tanker data cross-verified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Summer preparedness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FESTIVALS &amp; EVENTS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Lohri, Sankranti, Republic Day – done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Vasant Panchami sponsorship explored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Holi 2026 – volunteers, raindance, DJ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Festival SOP + official sub-account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COMMUNITY INITIATIVES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Sports Committee – SOP being drafted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Bicycle parking for kids’ safety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Women’s health services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Telegram channel for communication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 Airtel SIM + phone for Telegram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PROJECT HANDOVER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537"/>
                </a:solidFill>
                <a:latin typeface="Calibri"/>
              </a:defRPr>
            </a:pPr>
            <a:r>
              <a:rPr dirty="0"/>
              <a:t>Handover from Godrej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63040"/>
            <a:ext cx="4114800" cy="1371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5087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KEY CONTACTS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8288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D470E"/>
                </a:solidFill>
                <a:latin typeface="Calibri"/>
              </a:defRPr>
            </a:pPr>
            <a:r>
              <a:t>• Ketan Patel – F Tower</a:t>
            </a:r>
          </a:p>
          <a:p>
            <a:pPr>
              <a:spcAft>
                <a:spcPts val="300"/>
              </a:spcAft>
              <a:defRPr sz="1400" b="1">
                <a:solidFill>
                  <a:srgbClr val="0D470E"/>
                </a:solidFill>
                <a:latin typeface="Calibri"/>
              </a:defRPr>
            </a:pPr>
            <a:r>
              <a:t>• Vamsi Krishna P – GPL</a:t>
            </a:r>
          </a:p>
          <a:p>
            <a:pPr>
              <a:spcAft>
                <a:spcPts val="300"/>
              </a:spcAft>
              <a:defRPr sz="1400" b="1">
                <a:solidFill>
                  <a:srgbClr val="0D470E"/>
                </a:solidFill>
                <a:latin typeface="Calibri"/>
              </a:defRPr>
            </a:pPr>
            <a:r>
              <a:t>• Pavan Kumar MS – GPL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6858000" cy="29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Detailed handover update &amp; pending items shared</a:t>
            </a:r>
          </a:p>
          <a:p>
            <a:pPr>
              <a:spcAft>
                <a:spcPts val="7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Proposal: Third-party expert for verification</a:t>
            </a:r>
          </a:p>
          <a:p>
            <a:pPr>
              <a:spcAft>
                <a:spcPts val="7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Documents: Fire NOC, Lift certificates, Water quality</a:t>
            </a:r>
          </a:p>
          <a:p>
            <a:pPr>
              <a:spcAft>
                <a:spcPts val="7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Systems: BMS, CCTV, ELV, STP/WTP, DG sets</a:t>
            </a:r>
          </a:p>
          <a:p>
            <a:pPr>
              <a:spcAft>
                <a:spcPts val="7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CAM reconciliation received (Oct 2025 – Jan 2026)</a:t>
            </a:r>
          </a:p>
          <a:p>
            <a:pPr>
              <a:spcAft>
                <a:spcPts val="7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</a:t>
            </a:r>
            <a:r>
              <a:rPr dirty="0" err="1"/>
              <a:t>Fitout</a:t>
            </a:r>
            <a:r>
              <a:rPr dirty="0"/>
              <a:t> charges coordination in progress</a:t>
            </a:r>
          </a:p>
          <a:p>
            <a:pPr>
              <a:spcAft>
                <a:spcPts val="7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Strengthened handover process proposed</a:t>
            </a:r>
          </a:p>
          <a:p>
            <a:pPr>
              <a:spcAft>
                <a:spcPts val="7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BESCOM NOC delay – impacting electricity charges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a9f8e839286d6490192871da10b080b_55367_684532_medi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0" y="1371600"/>
            <a:ext cx="2103120" cy="210312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5E20"/>
                </a:solidFill>
                <a:latin typeface="Calibri"/>
              </a:defRPr>
            </a:pPr>
            <a:r>
              <a:t>5-6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FUTURE PLANS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754880"/>
            <a:ext cx="301752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537"/>
                </a:solidFill>
                <a:latin typeface="Calibri"/>
              </a:defRPr>
            </a:pPr>
            <a:r>
              <a:t>Welfare &amp; Financial Management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FUTURE PLANS – WELFARE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537"/>
                </a:solidFill>
                <a:latin typeface="Calibri"/>
              </a:defRPr>
            </a:pPr>
            <a:r>
              <a:t>Agenda Point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20040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5: FUTURE WELFARE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20240"/>
            <a:ext cx="3566160" cy="1828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2011680"/>
            <a:ext cx="2286000" cy="4114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CLUBHOUSE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Track 6-month plan</a:t>
            </a:r>
            <a:br/>
            <a:r>
              <a:t>Pharmacy, Clinic, Salon,</a:t>
            </a:r>
            <a:br/>
            <a:r>
              <a:t>Grocery, Sports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920240"/>
            <a:ext cx="3566160" cy="1828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43400" y="2011680"/>
            <a:ext cx="2286000" cy="4114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40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SUSTAINABILITY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5146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Launch OWC operations</a:t>
            </a:r>
            <a:br/>
            <a:r>
              <a:t>Water management</a:t>
            </a:r>
            <a:br/>
            <a:r>
              <a:t>Summer gardening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920240"/>
            <a:ext cx="3566160" cy="1828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83880" y="2011680"/>
            <a:ext cx="2286000" cy="4114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5146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MyGate</a:t>
            </a:r>
            <a:r>
              <a:rPr dirty="0"/>
              <a:t> onboarding</a:t>
            </a:r>
            <a:br>
              <a:rPr dirty="0"/>
            </a:br>
            <a:r>
              <a:rPr dirty="0"/>
              <a:t>Park+ ANPR, Telegram</a:t>
            </a:r>
            <a:br>
              <a:rPr dirty="0"/>
            </a:br>
            <a:r>
              <a:rPr dirty="0"/>
              <a:t>AQI monitors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023360"/>
            <a:ext cx="3566160" cy="1828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" y="4114800"/>
            <a:ext cx="2286000" cy="4114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114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17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Sports committee</a:t>
            </a:r>
            <a:br/>
            <a:r>
              <a:t>Cycling (Tilt.bike)</a:t>
            </a:r>
            <a:br/>
            <a:r>
              <a:t>Women’s health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4023360"/>
            <a:ext cx="3566160" cy="1828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343400" y="4114800"/>
            <a:ext cx="2286000" cy="4114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43400" y="4114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617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Tower repairs, Lifts</a:t>
            </a:r>
            <a:br>
              <a:rPr dirty="0"/>
            </a:br>
            <a:r>
              <a:rPr dirty="0"/>
              <a:t>Seepage fixes</a:t>
            </a:r>
            <a:br>
              <a:rPr dirty="0"/>
            </a:br>
            <a:r>
              <a:rPr dirty="0"/>
              <a:t>Deep cleaning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023360"/>
            <a:ext cx="3566160" cy="1828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183880" y="4114800"/>
            <a:ext cx="2286000" cy="4114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83880" y="4114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HANDOVER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617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3rd-party verification</a:t>
            </a:r>
            <a:br/>
            <a:r>
              <a:t>Documentation</a:t>
            </a:r>
            <a:br/>
            <a:r>
              <a:t>Pending items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FUTURE PLANS – FINANCIAL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537"/>
                </a:solidFill>
                <a:latin typeface="Calibri"/>
              </a:defRPr>
            </a:pPr>
            <a:r>
              <a:t>Agenda Point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20040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6: FUTURE FINANCIAL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Godrej Park Retreat  |  First GBM  |  21st March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20240"/>
            <a:ext cx="3566160" cy="1828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2011680"/>
            <a:ext cx="2286000" cy="4114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APPROVAL THRESHOLDS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Clear financial limits</a:t>
            </a:r>
            <a:br/>
            <a:r>
              <a:t>for all expense categories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920240"/>
            <a:ext cx="3566160" cy="1828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43400" y="2011680"/>
            <a:ext cx="2286000" cy="4114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40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REGULAR AUDITS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5146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Quarterly audits</a:t>
            </a:r>
            <a:br/>
            <a:r>
              <a:t>Post-event financial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920240"/>
            <a:ext cx="3566160" cy="1828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83880" y="2011680"/>
            <a:ext cx="2286000" cy="4114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VENDOR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5146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Security vendor review</a:t>
            </a:r>
            <a:br/>
            <a:r>
              <a:t>₹19.2L potential savings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023360"/>
            <a:ext cx="3566160" cy="1828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" y="4114800"/>
            <a:ext cx="2286000" cy="4114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114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REVENUE STREAMS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17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Tilt.bike ~₹1.44L/yr</a:t>
            </a:r>
            <a:br/>
            <a:r>
              <a:t>AdOnMo, Veg vendor ₹10K/mo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4023360"/>
            <a:ext cx="3566160" cy="1828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343400" y="4114800"/>
            <a:ext cx="2286000" cy="4114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43400" y="4114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BANKING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617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HDFC Tally integration</a:t>
            </a:r>
            <a:br/>
            <a:r>
              <a:t>EazyPay collections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023360"/>
            <a:ext cx="3566160" cy="1828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183880" y="4114800"/>
            <a:ext cx="2286000" cy="41148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83880" y="4114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BUDGET 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617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Annual budget framework</a:t>
            </a:r>
            <a:br/>
            <a:r>
              <a:t>Reserve fund management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n_na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CLOSING REMARKS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011680"/>
            <a:ext cx="393192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 rot="10800000" flipV="1">
            <a:off x="1244600" y="3771673"/>
            <a:ext cx="100025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We serve the community – Transparency,</a:t>
            </a:r>
            <a:br>
              <a:rPr dirty="0"/>
            </a:br>
            <a:r>
              <a:rPr dirty="0"/>
              <a:t>Accountability &amp; Resident Welfare are our core values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mun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OPEN FORUM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D4A537"/>
                </a:solidFill>
                <a:latin typeface="Calibri"/>
              </a:defRPr>
            </a:pPr>
            <a:r>
              <a:t>Questions &amp; Interaction with RWA Members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834640"/>
            <a:ext cx="3017520" cy="6400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 rot="10800000" flipV="1">
            <a:off x="914400" y="3721100"/>
            <a:ext cx="10071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537"/>
                </a:solidFill>
                <a:latin typeface="Calibri"/>
              </a:defRPr>
            </a:pPr>
            <a:r>
              <a:rPr dirty="0"/>
              <a:t>Thank You for Your Participation!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2153</Words>
  <Application>Microsoft Office PowerPoint</Application>
  <PresentationFormat>Widescreen</PresentationFormat>
  <Paragraphs>430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Patel Ketankumar Amrutlal</cp:lastModifiedBy>
  <cp:revision>30</cp:revision>
  <dcterms:created xsi:type="dcterms:W3CDTF">2013-01-27T09:14:16Z</dcterms:created>
  <dcterms:modified xsi:type="dcterms:W3CDTF">2026-03-06T11:06:27Z</dcterms:modified>
  <cp:category/>
</cp:coreProperties>
</file>